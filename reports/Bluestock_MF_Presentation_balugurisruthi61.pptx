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09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560320" cy="256032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balugurisruthi61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377440" y="502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C4"/>
                </a:solidFill>
              </a:rPr>
              <a:t>Bluestock Fintech MJ28  ·  Capstone Project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0" y="749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Individual Submission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Mutual Fund Analytics Platform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2926080" y="3063240"/>
            <a:ext cx="329184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EABC4"/>
                </a:solidFill>
              </a:rPr>
              <a:t>Data Engineering · EDA · Performance &amp; Risk Analytics · Power BI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1A3354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40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Fund Schemes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21408" y="37947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1A3354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21408" y="4224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Fund Houses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85616" y="37947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1A3354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46,000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85616" y="4224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NAV Records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49824" y="37947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1A3354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32,778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9824" y="4224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Transactions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14032" y="37947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1A3354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4.4 Yrs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14032" y="4224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Data Span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GitHub: github.com/balugurisruthi61-bot/data-project  ·  Due: 10 June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Problem &amp; Objective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</a:rPr>
              <a:t>1.  </a:t>
            </a:r>
            <a:r>
              <a:rPr lang="en-US" sz="1050" dirty="0">
                <a:solidFill>
                  <a:srgbClr val="334155"/>
                </a:solidFill>
              </a:rPr>
              <a:t>Mutual fund data (NAV, AUM, SIP flows, holdings) is spread across 10 disconnected raw sources with no unified view
</a:t>
            </a:r>
            <a:r>
              <a:rPr lang="en-US" sz="1050" b="1" dirty="0">
                <a:solidFill>
                  <a:srgbClr val="E63946"/>
                </a:solidFill>
              </a:rPr>
              <a:t>2.  </a:t>
            </a:r>
            <a:r>
              <a:rPr lang="en-US" sz="1050" dirty="0">
                <a:solidFill>
                  <a:srgbClr val="334155"/>
                </a:solidFill>
              </a:rPr>
              <a:t>Investors cannot easily compare risk-adjusted performance (Sharpe, Sortino, Alpha, Beta) across 40 schemes &amp; 10 fund houses
</a:t>
            </a:r>
            <a:r>
              <a:rPr lang="en-US" sz="1050" b="1" dirty="0">
                <a:solidFill>
                  <a:srgbClr val="E63946"/>
                </a:solidFill>
              </a:rPr>
              <a:t>3.  </a:t>
            </a:r>
            <a:r>
              <a:rPr lang="en-US" sz="1050" dirty="0">
                <a:solidFill>
                  <a:srgbClr val="334155"/>
                </a:solidFill>
              </a:rPr>
              <a:t>No automated way to validate AMFI codes between fund master and NAV history before analysis
</a:t>
            </a:r>
            <a:r>
              <a:rPr lang="en-US" sz="1050" b="1" dirty="0">
                <a:solidFill>
                  <a:srgbClr val="E63946"/>
                </a:solidFill>
              </a:rPr>
              <a:t>4.  </a:t>
            </a:r>
            <a:r>
              <a:rPr lang="en-US" sz="1050" dirty="0">
                <a:solidFill>
                  <a:srgbClr val="334155"/>
                </a:solidFill>
              </a:rPr>
              <a:t>Investor transaction behaviour (state, age, transaction type) is not visualized for decision-making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09728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 OBJECTIVE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✅  </a:t>
            </a:r>
            <a:r>
              <a:rPr lang="en-US" sz="1050" dirty="0">
                <a:solidFill>
                  <a:srgbClr val="CAE9F5"/>
                </a:solidFill>
              </a:rPr>
              <a:t>Build a Python ETL pipeline (live_nav_fetch.py + data_ingestion.py) to fetch &amp; validate fund NAV data from AMFI
</a:t>
            </a:r>
            <a:r>
              <a:rPr lang="en-US" sz="1050" b="1" dirty="0">
                <a:solidFill>
                  <a:srgbClr val="00B4D8"/>
                </a:solidFill>
              </a:rPr>
              <a:t>✅  </a:t>
            </a:r>
            <a:r>
              <a:rPr lang="en-US" sz="1050" dirty="0">
                <a:solidFill>
                  <a:srgbClr val="CAE9F5"/>
                </a:solidFill>
              </a:rPr>
              <a:t>Perform EDA across AUM, SIP inflows, folio growth, category inflows &amp; portfolio sector allocation
</a:t>
            </a:r>
            <a:r>
              <a:rPr lang="en-US" sz="1050" b="1" dirty="0">
                <a:solidFill>
                  <a:srgbClr val="00B4D8"/>
                </a:solidFill>
              </a:rPr>
              <a:t>✅  </a:t>
            </a:r>
            <a:r>
              <a:rPr lang="en-US" sz="1050" dirty="0">
                <a:solidFill>
                  <a:srgbClr val="CAE9F5"/>
                </a:solidFill>
              </a:rPr>
              <a:t>Compute CAGR, Sharpe, Sortino, Alpha, Beta, Max Drawdown, VaR/CVaR for all 40 schemes
</a:t>
            </a:r>
            <a:r>
              <a:rPr lang="en-US" sz="1050" b="1" dirty="0">
                <a:solidFill>
                  <a:srgbClr val="00B4D8"/>
                </a:solidFill>
              </a:rPr>
              <a:t>✅  </a:t>
            </a:r>
            <a:r>
              <a:rPr lang="en-US" sz="1050" dirty="0">
                <a:solidFill>
                  <a:srgbClr val="CAE9F5"/>
                </a:solidFill>
              </a:rPr>
              <a:t>Build a Power BI dashboard for investor transaction analytics (state, age group, transaction type, year)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Data Sources &amp; Datasets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Data Sources &amp; Datasets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03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621024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schemes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AMCs, categories, expense ratios, fund managers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NAV, Jan 2022 – May 2026 (4.4 yrs)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aum_by_fund_house.csv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 by AMC, 2022–2025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monthly_sip_inflows.csv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inflows, active accounts, SIP AUM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category_inflows.csv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Category-wise net inflows by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industry_folio_count.csv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&amp; equity folio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schemes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Sharpe, AUM, ratings, risk 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Transaction-level: state, age, type, 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portfolio_holdings.csv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Stock-level holdings across 34 funds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8,051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NIFTY50/100/Midcap/Smallcap, CRISIL indices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B4D8"/>
                </a:solidFill>
              </a:rPr>
              <a:t>📁  Repo: github.com/balugurisruthi61-bot/data-project  |  Total: ~87,000+ data points across 10 CSVs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Data Ingestion, ETL &amp; Validation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FETCH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LIVE NAV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1600200"/>
            <a:ext cx="21031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9112" y="1078992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9112" y="1078992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MASTER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HISTORY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47872" y="1600200"/>
            <a:ext cx="21031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8184" y="1078992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8338EC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58184" y="1078992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CROSS-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AMFI CODES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66944" y="1600200"/>
            <a:ext cx="21031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7256" y="1078992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77256" y="1078992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DAILY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RETURNS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86016" y="1600200"/>
            <a:ext cx="21031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6328" y="1078992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96328" y="1078992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EDA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ANALYTICS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NOTEBOOKS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4206240" cy="2542032"/>
          </a:xfrm>
          <a:prstGeom prst="roundRect">
            <a:avLst>
              <a:gd name="adj" fmla="val 3597"/>
            </a:avLst>
          </a:prstGeom>
          <a:solidFill>
            <a:srgbClr val="0F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📄  live_nav_fetch.py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788920"/>
            <a:ext cx="3977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33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8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r>
              <a:rPr lang="en-US" sz="850" dirty="0">
                <a:solidFill>
                  <a:srgbClr val="833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pandas as </a:t>
            </a:r>
            <a:r>
              <a:rPr lang="en-US" sz="8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
</a:t>
            </a:r>
            <a:r>
              <a:rPr lang="en-US" sz="850" dirty="0">
                <a:solidFill>
                  <a:srgbClr val="8EA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schemes = {
</a:t>
            </a:r>
            <a:r>
              <a:rPr lang="en-US" sz="8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"SBI_Bluechip"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119551,
</a:t>
            </a:r>
            <a:r>
              <a:rPr lang="en-US" sz="8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"ICICI_Bluechip"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120503, ...}
</a:t>
            </a:r>
            <a:r>
              <a:rPr lang="en-US" sz="850" dirty="0">
                <a:solidFill>
                  <a:srgbClr val="833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code </a:t>
            </a:r>
            <a:r>
              <a:rPr lang="en-US" sz="850" dirty="0">
                <a:solidFill>
                  <a:srgbClr val="833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schemes.items():
  url = f</a:t>
            </a:r>
            <a:r>
              <a:rPr lang="en-US" sz="8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"api.mfapi.in/mf/{code}"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pd.DataFrame(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]).to_csv(
</a:t>
            </a:r>
            <a:r>
              <a:rPr lang="en-US" sz="8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f"data/raw/{name}_nav.csv")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395728"/>
            <a:ext cx="4160520" cy="2542032"/>
          </a:xfrm>
          <a:prstGeom prst="roundRect">
            <a:avLst>
              <a:gd name="adj" fmla="val 3597"/>
            </a:avLst>
          </a:prstGeom>
          <a:solidFill>
            <a:srgbClr val="0F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📄  data_ingestion.py — Validation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788920"/>
            <a:ext cx="3931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fund_codes = 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(fund_master[
</a:t>
            </a:r>
            <a:r>
              <a:rPr lang="en-US" sz="8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"amfi_code"])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nav_codes = 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(nav_history[
</a:t>
            </a:r>
            <a:r>
              <a:rPr lang="en-US" sz="8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"amfi_code"])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= fund_codes - nav_codes
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("Missing:", 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(missing))
</a:t>
            </a:r>
            <a:r>
              <a:rPr lang="en-US" sz="850" dirty="0">
                <a:solidFill>
                  <a:srgbClr val="8EA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OUTPUT:
</a:t>
            </a:r>
            <a:r>
              <a:rPr lang="en-US" sz="8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AMFI Codes Count: 0
# All 40 codes matched perfectly
# between fund_master &amp; nav_history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EDA — AUM &amp; Portfolio Allocation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05</a:t>
            </a:r>
            <a:endParaRPr lang="en-US" sz="2000" dirty="0"/>
          </a:p>
        </p:txBody>
      </p:sp>
      <p:pic>
        <p:nvPicPr>
          <p:cNvPr id="5" name="Image 0" descr="/home/claude/charts/aum_by_fund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663440" cy="3520440"/>
          </a:xfrm>
          <a:prstGeom prst="rect">
            <a:avLst/>
          </a:prstGeom>
        </p:spPr>
      </p:pic>
      <p:pic>
        <p:nvPicPr>
          <p:cNvPr id="6" name="Image 1" descr="/home/claude/charts/sector_allo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51560"/>
            <a:ext cx="393192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</a:rPr>
              <a:t>Insight: SBI MF leads AUM (₹12.5 LCr, 186 schemes); Banking (19.2%) &amp; IT (13.4%) dominate portfolio sector allocation across 34 analyzed funds.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EDA — Industry Growth Trends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06</a:t>
            </a:r>
            <a:endParaRPr lang="en-US" sz="2000" dirty="0"/>
          </a:p>
        </p:txBody>
      </p:sp>
      <p:pic>
        <p:nvPicPr>
          <p:cNvPr id="5" name="Image 0" descr="/home/claude/charts/sip_inflow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434840" cy="3520440"/>
          </a:xfrm>
          <a:prstGeom prst="rect">
            <a:avLst/>
          </a:prstGeom>
        </p:spPr>
      </p:pic>
      <p:pic>
        <p:nvPicPr>
          <p:cNvPr id="6" name="Image 1" descr="/home/claude/charts/folio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4160520" cy="3520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457200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1A3354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4572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+169%  </a:t>
            </a:r>
            <a:r>
              <a:rPr lang="en-US" sz="800" dirty="0">
                <a:solidFill>
                  <a:srgbClr val="8EABC4"/>
                </a:solidFill>
              </a:rPr>
              <a:t>SIP Inflow growth</a:t>
            </a:r>
            <a:endParaRPr lang="en-US" sz="13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₹11,517 Cr → ₹31,002 Cr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182112" y="457200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1A3354"/>
          </a:solidFill>
          <a:ln/>
        </p:spPr>
      </p:sp>
      <p:sp>
        <p:nvSpPr>
          <p:cNvPr id="10" name="Text 6"/>
          <p:cNvSpPr/>
          <p:nvPr/>
        </p:nvSpPr>
        <p:spPr>
          <a:xfrm>
            <a:off x="3182112" y="4572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+90%  </a:t>
            </a:r>
            <a:r>
              <a:rPr lang="en-US" sz="800" dirty="0">
                <a:solidFill>
                  <a:srgbClr val="8EABC4"/>
                </a:solidFill>
              </a:rPr>
              <a:t>Active SIP accounts</a:t>
            </a:r>
            <a:endParaRPr lang="en-US" sz="13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4.91 Cr → 9.35 Cr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44184" y="457200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1A3354"/>
          </a:solidFill>
          <a:ln/>
        </p:spPr>
      </p:sp>
      <p:sp>
        <p:nvSpPr>
          <p:cNvPr id="12" name="Text 8"/>
          <p:cNvSpPr/>
          <p:nvPr/>
        </p:nvSpPr>
        <p:spPr>
          <a:xfrm>
            <a:off x="6044184" y="4572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+97%  </a:t>
            </a:r>
            <a:r>
              <a:rPr lang="en-US" sz="800" dirty="0">
                <a:solidFill>
                  <a:srgbClr val="8EABC4"/>
                </a:solidFill>
              </a:rPr>
              <a:t>Total folios</a:t>
            </a:r>
            <a:endParaRPr lang="en-US" sz="13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EABC4"/>
                </a:solidFill>
              </a:rPr>
              <a:t>13.26 Cr → 26.12 Cr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Fund Performance — Top 5 by CAGR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Fund Performance — Top 5 by CAGR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4D8"/>
                </a:solidFill>
              </a:rPr>
              <a:t>Computed from 02_nav_history.csv (Performance_Analytics.ipynb) — CAGR = (End NAV / Start NAV)^(1/years) − 1, over 4.4-yr span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756511"/>
              </p:ext>
            </p:extLst>
          </p:nvPr>
        </p:nvGraphicFramePr>
        <p:xfrm>
          <a:off x="172329" y="1337608"/>
          <a:ext cx="5187461" cy="3545293"/>
        </p:xfrm>
        <a:graphic>
          <a:graphicData uri="http://schemas.openxmlformats.org/drawingml/2006/table">
            <a:tbl>
              <a:tblPr/>
              <a:tblGrid>
                <a:gridCol w="1952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6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2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8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Fund - Regular -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Prudential MF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Fund - Regular Plan -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Mutual Fund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Small Cap Fund - Regular -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Mutual Fund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Tax Saver Fund - Regular -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MF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Fund - Regular -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MF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EA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 flipV="1">
            <a:off x="457200" y="5349239"/>
            <a:ext cx="8229600" cy="46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543AB1-65E2-F992-A89E-033BF0EA9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535" y="1325880"/>
            <a:ext cx="3573194" cy="35110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Category-wise Performance Benchmark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08</a:t>
            </a:r>
            <a:endParaRPr lang="en-US" sz="2000" dirty="0"/>
          </a:p>
        </p:txBody>
      </p:sp>
      <p:pic>
        <p:nvPicPr>
          <p:cNvPr id="5" name="Image 0" descr="/home/claude/charts/category_ca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07492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1078992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0" y="1143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🏆  ELSS Leads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69280" y="14081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ELSS funds show the highest average CAGR (31.9%) — tax-saving funds with equity-heavy allocation paid off.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532120" y="19659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📊  Flexi &amp; Large-Mid Cap Strong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0" y="22951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Flexi Cap (23.9%) and Large &amp; Mid Cap (22.5%) categories balanced growth with diversification.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32120" y="2852928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0" y="2916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</a:rPr>
              <a:t>🛡️  Liquid = Lowest Risk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0" y="31821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Liquid funds show lowest CAGR (6.9%) but near-zero volatility — ideal for parking short-term funds.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532120" y="3739896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338EC"/>
                </a:solidFill>
              </a:rPr>
              <a:t>⚠️  Small Cap — High Variance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Small Cap shows wide CAGR range (1.5% to 32.4%) — fund selection matters far more here than category choice.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Risk Metrics — VaR, CVaR &amp; Rolling Sharpe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09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user-data/uploads/rolling_sharp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493776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977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From Advanced_Analytics.ipynb — 90-day rolling Sharpe ratio, computed on daily NAV returns (annualized ×√252)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77840" y="1078992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1A3354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11521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Historical VaR (5%)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0" y="1408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3946"/>
                </a:solidFill>
              </a:rPr>
              <a:t>-1.63%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903720" y="14813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EABC4"/>
                </a:solidFill>
              </a:rPr>
              <a:t>Daily loss exceeded only 5% of the time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77840" y="1993392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1A3354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15000" y="20665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CVaR (Expected Shortfall)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15000" y="23225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338EC"/>
                </a:solidFill>
              </a:rPr>
              <a:t>-2.98%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903720" y="23957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EABC4"/>
                </a:solidFill>
              </a:rPr>
              <a:t>Avg loss on the worst 5% of days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577840" y="2907792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1A3354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2980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Sharpe (Top 5 CAGR funds)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15000" y="32369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4D8"/>
                </a:solidFill>
              </a:rPr>
              <a:t>1.45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903720" y="33101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EABC4"/>
                </a:solidFill>
              </a:rPr>
              <a:t>Mirae Asset Large Cap Fund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577840" y="3822192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1A3354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715000" y="38953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Rolling Sharpe Range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15000" y="41513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A261"/>
                </a:solidFill>
              </a:rPr>
              <a:t>-5 to +18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6903720" y="42245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EABC4"/>
                </a:solidFill>
              </a:rPr>
              <a:t>90-day window across full dataset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Advanced Analytics — Recommendations &amp; Risk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10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51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🎯  Top 'Low-Risk' Fund Recommendations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Filtered: risk_grade == 'Low', ranked by Sharpe Ratio (07_scheme_performance.csv)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3977640" cy="125882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Liquid Fund (Regular)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Liquid Fund (Regular)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Liquid Fund (Regular)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33756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📌  Code logic: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= df[df['risk_grade'] == 'low']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top_funds = recommended.sort_values(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7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by='sharpe_ratio', ascending=False).head(3)</a:t>
            </a:r>
            <a:endParaRPr lang="en-US" sz="900" dirty="0"/>
          </a:p>
        </p:txBody>
      </p:sp>
      <p:sp>
        <p:nvSpPr>
          <p:cNvPr id="9" name="Shape 8"/>
          <p:cNvSpPr/>
          <p:nvPr/>
        </p:nvSpPr>
        <p:spPr>
          <a:xfrm>
            <a:off x="4754880" y="1051560"/>
            <a:ext cx="4160520" cy="3520440"/>
          </a:xfrm>
          <a:prstGeom prst="roundRect">
            <a:avLst>
              <a:gd name="adj" fmla="val 2597"/>
            </a:avLst>
          </a:prstGeom>
          <a:solidFill>
            <a:srgbClr val="0A1628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097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📊  Portfolio Concentration (HHI)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9204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BC4"/>
                </a:solidFill>
              </a:rPr>
              <a:t>HHI = Σ(weight²)  for each fund's holdings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Result: </a:t>
            </a:r>
            <a:r>
              <a:rPr lang="en-US" sz="1000" dirty="0">
                <a:solidFill>
                  <a:srgbClr val="8EABC4"/>
                </a:solidFill>
              </a:rPr>
              <a:t>All 34 funds analyzed → </a:t>
            </a:r>
            <a:r>
              <a:rPr lang="en-US" sz="1000" b="1" dirty="0">
                <a:solidFill>
                  <a:srgbClr val="2EC4B6"/>
                </a:solidFill>
              </a:rPr>
              <a:t>HHI &lt; 0.25
→ "Diversified Portfolio" for every fund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concentration holdings (single-stock weight):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BC4"/>
                </a:solidFill>
              </a:rPr>
              <a:t>•  Infosys Ltd (IT) — 38.2% in one fund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BC4"/>
                </a:solidFill>
              </a:rPr>
              <a:t>•  Sun Pharma — 35.1% in one fund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EABC4"/>
                </a:solidFill>
              </a:rPr>
              <a:t>•  Bharti Airtel — 30.4% in one fund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Insight: </a:t>
            </a:r>
            <a:r>
              <a:rPr lang="en-US" sz="1000" dirty="0">
                <a:solidFill>
                  <a:srgbClr val="CAE9F5"/>
                </a:solidFill>
              </a:rPr>
              <a:t>Despite individual large single-stock bets, overall portfolio HHI stays diversified across the 9-sector spread.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Power BI Dashboard — Transaction Analytics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11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user-data/uploads/178136230973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832104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</a:rPr>
              <a:t>📍  State Filter = Tamil Nadu  →  </a:t>
            </a:r>
            <a:r>
              <a:rPr lang="en-US" sz="950" dirty="0">
                <a:solidFill>
                  <a:srgbClr val="8EABC4"/>
                </a:solidFill>
              </a:rPr>
              <a:t>Total ₹315.2M across 2,806 transactions  |  Lumpsum ₹177.7M (56.4%)  ·  Redemption ₹119.1M (37.8%)  ·  SIP ₹18.4M (5.8%)  |  2024→2025: ₹227.9M → ₹87.3M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Key Findings &amp; Recommendations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13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A3354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188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</a:rPr>
              <a:t>✅  100% Data Quality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" y="1536192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BC4"/>
                </a:solidFill>
              </a:rPr>
              <a:t>AMFI code cross-validation between fund_master.csv and nav_history.csv returned zero missing codes — all 40 schemes fully traceable across NAV history.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90872" y="1078992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A3354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55464" y="1188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</a:rPr>
              <a:t>📈  SIP Culture is Growing Fast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55464" y="1536192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BC4"/>
                </a:solidFill>
              </a:rPr>
              <a:t>SIP inflows grew 169% (₹11,517 Cr → ₹31,002 Cr) and total investor folios nearly doubled (+97%) from 2022 to 2025 — strong retail participation trend.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953512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A3354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0632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</a:rPr>
              <a:t>🏆  ELSS &amp; Mid/Small Cap Lead Returns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" y="3410712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BC4"/>
                </a:solidFill>
              </a:rPr>
              <a:t>ELSS (31.9% avg CAGR) and select Mid/Small Cap funds (up to 32.8% CAGR) topped performance — but with deeper max drawdowns (-16% to -31%).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2953512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A3354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55464" y="30632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338EC"/>
                </a:solidFill>
              </a:rPr>
              <a:t>🛡️  Liquid Funds for Safety, Equity for Growth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55464" y="3410712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BC4"/>
                </a:solidFill>
              </a:rPr>
              <a:t>Liquid funds (ICICI Pru, Kotak, ABSL) offer Sharpe &gt;5 with near-zero volatility — ideal as the 'Low risk_grade' recommendation set for conservative investors.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2926080" cy="2926080"/>
          </a:xfrm>
          <a:prstGeom prst="ellipse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82880"/>
            <a:ext cx="1645920" cy="1645920"/>
          </a:xfrm>
          <a:prstGeom prst="ellipse">
            <a:avLst/>
          </a:prstGeom>
          <a:solidFill>
            <a:srgbClr val="2EC4B6">
              <a:alpha val="15000"/>
            </a:srgbClr>
          </a:solidFill>
          <a:ln w="12700">
            <a:solidFill>
              <a:srgbClr val="2EC4B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347472"/>
            <a:ext cx="1645920" cy="1645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347472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628"/>
                </a:solidFill>
              </a:rPr>
              <a:t>MJ28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2926080" y="2971800"/>
            <a:ext cx="32918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BC4"/>
                </a:solidFill>
              </a:rPr>
              <a:t>Bluestock Fintech MJ28  ·  Capstone Project I  ·  Mutual Fund Analytics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584448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1A335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584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Submitted by: balugurisruthi61  |  Individual Submission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411480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C4B4"/>
                </a:solidFill>
              </a:rPr>
              <a:t>✅  Final_Report.pdf (15–20 pages)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7C4B4"/>
                </a:solidFill>
              </a:rPr>
              <a:t>✅  Bluestock_MF_Presentation.pptx (14 slides)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7C4B4"/>
                </a:solidFill>
              </a:rPr>
              <a:t>✅  GitHub: github.com/balugurisruthi61-bot/data-project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1596</Words>
  <Application>Microsoft Office PowerPoint</Application>
  <PresentationFormat>On-screen Show (16:9)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Bluestock_MF_Presentation</dc:title>
  <dc:subject>PptxGenJS Presentation</dc:subject>
  <dc:creator>balugurisruthi61</dc:creator>
  <cp:lastModifiedBy>Sruthi Baluguri</cp:lastModifiedBy>
  <cp:revision>3</cp:revision>
  <dcterms:created xsi:type="dcterms:W3CDTF">2026-06-14T13:09:08Z</dcterms:created>
  <dcterms:modified xsi:type="dcterms:W3CDTF">2026-06-14T14:29:04Z</dcterms:modified>
</cp:coreProperties>
</file>